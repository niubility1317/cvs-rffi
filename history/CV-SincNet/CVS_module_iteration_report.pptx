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9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400" b="1">
                <a:solidFill>
                  <a:srgbClr val="192F59"/>
                </a:solidFill>
                <a:latin typeface="Microsoft YaHei"/>
              </a:rPr>
              <a:t>CVS 项目版本迭代与模块原理汇报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514600"/>
            <a:ext cx="102412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0">
                <a:solidFill>
                  <a:srgbClr val="5C6470"/>
                </a:solidFill>
                <a:latin typeface="Microsoft YaHei"/>
              </a:rPr>
              <a:t>聚焦：数据划分、物理增强、模型结构、损失系统、训练与评价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3886200"/>
            <a:ext cx="2926080" cy="731520"/>
          </a:xfrm>
          <a:prstGeom prst="roundRect">
            <a:avLst/>
          </a:prstGeom>
          <a:solidFill>
            <a:srgbClr val="2F68B3"/>
          </a:solidFill>
          <a:ln w="12700">
            <a:solidFill>
              <a:srgbClr val="2F68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最终版本</a:t>
            </a:r>
            <a:br/>
            <a:r>
              <a:rPr sz="1800" b="1">
                <a:solidFill>
                  <a:srgbClr val="FFFFFF"/>
                </a:solidFill>
                <a:latin typeface="Microsoft YaHei"/>
              </a:rPr>
              <a:t>type10-5 / D02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86200" y="3886200"/>
            <a:ext cx="2926080" cy="731520"/>
          </a:xfrm>
          <a:prstGeom prst="roundRect">
            <a:avLst/>
          </a:prstGeom>
          <a:solidFill>
            <a:srgbClr val="448C66"/>
          </a:solidFill>
          <a:ln w="12700">
            <a:solidFill>
              <a:srgbClr val="448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Best Joint</a:t>
            </a:r>
            <a:br/>
            <a:r>
              <a:rPr sz="1800" b="1">
                <a:solidFill>
                  <a:srgbClr val="FFFFFF"/>
                </a:solidFill>
                <a:latin typeface="Microsoft YaHei"/>
              </a:rPr>
              <a:t>90.18%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59168" y="3886200"/>
            <a:ext cx="2926080" cy="731520"/>
          </a:xfrm>
          <a:prstGeom prst="roundRect">
            <a:avLst/>
          </a:prstGeom>
          <a:solidFill>
            <a:srgbClr val="D67E31"/>
          </a:solidFill>
          <a:ln w="12700">
            <a:solidFill>
              <a:srgbClr val="D67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Last Epoch</a:t>
            </a:r>
            <a:br/>
            <a:r>
              <a:rPr sz="1800" b="1">
                <a:solidFill>
                  <a:srgbClr val="FFFFFF"/>
                </a:solidFill>
                <a:latin typeface="Microsoft YaHei"/>
              </a:rPr>
              <a:t>89.67%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C6470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92F59"/>
                </a:solidFill>
                <a:latin typeface="Microsoft YaHei"/>
              </a:rPr>
              <a:t>研究问题：跨域 RF 指纹识别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201400" cy="27432"/>
          </a:xfrm>
          <a:prstGeom prst="rect">
            <a:avLst/>
          </a:prstGeom>
          <a:solidFill>
            <a:srgbClr val="E1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5C6470"/>
                </a:solidFill>
                <a:latin typeface="Microsoft YaHei"/>
              </a:rPr>
              <a:t>目标是在 unseen day / unseen rx 下仍能识别发射设备身份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C6470"/>
                </a:solidFill>
                <a:latin typeface="Microsoft YaHei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011680" cy="731520"/>
          </a:xfrm>
          <a:prstGeom prst="roundRect">
            <a:avLst/>
          </a:prstGeom>
          <a:solidFill>
            <a:srgbClr val="2F68B3"/>
          </a:solidFill>
          <a:ln w="12700">
            <a:solidFill>
              <a:srgbClr val="2F68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Source</a:t>
            </a:r>
            <a:br/>
            <a:r>
              <a:rPr sz="1600" b="1">
                <a:solidFill>
                  <a:srgbClr val="FFFFFF"/>
                </a:solidFill>
                <a:latin typeface="Microsoft YaHei"/>
              </a:rPr>
              <a:t>已见 day/rx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1828800"/>
            <a:ext cx="2468880" cy="10972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2F68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700" b="1">
                <a:solidFill>
                  <a:srgbClr val="192F59"/>
                </a:solidFill>
                <a:latin typeface="Microsoft YaHei"/>
              </a:rPr>
              <a:t>CVS 模型</a:t>
            </a:r>
            <a:br/>
            <a:r>
              <a:rPr sz="1700" b="1">
                <a:solidFill>
                  <a:srgbClr val="192F59"/>
                </a:solidFill>
                <a:latin typeface="Microsoft YaHei"/>
              </a:rPr>
              <a:t>身份特征 vs 域因素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508760"/>
            <a:ext cx="2057400" cy="594360"/>
          </a:xfrm>
          <a:prstGeom prst="roundRect">
            <a:avLst/>
          </a:prstGeom>
          <a:solidFill>
            <a:srgbClr val="448C66"/>
          </a:solidFill>
          <a:ln w="12700">
            <a:solidFill>
              <a:srgbClr val="448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Unseen 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331720"/>
            <a:ext cx="2057400" cy="594360"/>
          </a:xfrm>
          <a:prstGeom prst="roundRect">
            <a:avLst/>
          </a:prstGeom>
          <a:solidFill>
            <a:srgbClr val="D67E31"/>
          </a:solidFill>
          <a:ln w="12700">
            <a:solidFill>
              <a:srgbClr val="D67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Unseen rx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3154680"/>
            <a:ext cx="2057400" cy="594360"/>
          </a:xfrm>
          <a:prstGeom prst="roundRect">
            <a:avLst/>
          </a:prstGeom>
          <a:solidFill>
            <a:srgbClr val="BE4A42"/>
          </a:solidFill>
          <a:ln w="12700">
            <a:solidFill>
              <a:srgbClr val="BE4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Unseen day+rx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" y="2377440"/>
            <a:ext cx="1051560" cy="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263640" y="1805940"/>
            <a:ext cx="1143000" cy="57150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63640" y="2377440"/>
            <a:ext cx="1143000" cy="25146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263640" y="2377440"/>
            <a:ext cx="1143000" cy="107442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70916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32D"/>
                </a:solidFill>
                <a:latin typeface="Microsoft YaHei"/>
              </a:defRPr>
            </a:pPr>
            <a:r>
              <a:t>输入：I/Q 序列；输出：发射设备 ID</a:t>
            </a:r>
          </a:p>
          <a:p>
            <a:pPr>
              <a:spcAft>
                <a:spcPts val="500"/>
              </a:spcAft>
              <a:defRPr sz="1500">
                <a:solidFill>
                  <a:srgbClr val="1E232D"/>
                </a:solidFill>
                <a:latin typeface="Microsoft YaHei"/>
              </a:defRPr>
            </a:pPr>
            <a:r>
              <a:t>核心难点：设备身份特征与 day/rx/信道/硬件扰动耦合</a:t>
            </a:r>
          </a:p>
          <a:p>
            <a:pPr>
              <a:spcAft>
                <a:spcPts val="500"/>
              </a:spcAft>
              <a:defRPr sz="1500">
                <a:solidFill>
                  <a:srgbClr val="1E232D"/>
                </a:solidFill>
                <a:latin typeface="Microsoft YaHei"/>
              </a:defRPr>
            </a:pPr>
            <a:r>
              <a:t>最终评价必须区分 best 与 last，并关注 hardest split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92F59"/>
                </a:solidFill>
                <a:latin typeface="Microsoft YaHei"/>
              </a:rPr>
              <a:t>版本演进总览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201400" cy="27432"/>
          </a:xfrm>
          <a:prstGeom prst="rect">
            <a:avLst/>
          </a:prstGeom>
          <a:solidFill>
            <a:srgbClr val="E1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5C6470"/>
                </a:solidFill>
                <a:latin typeface="Microsoft YaHei"/>
              </a:rPr>
              <a:t>根据目录命名、日志时间、代码复杂度和任务迁移推断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C6470"/>
                </a:solidFill>
                <a:latin typeface="Microsoft YaHe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331720"/>
            <a:ext cx="1417320" cy="749808"/>
          </a:xfrm>
          <a:prstGeom prst="roundRect">
            <a:avLst/>
          </a:prstGeom>
          <a:solidFill>
            <a:srgbClr val="2F68B3"/>
          </a:solidFill>
          <a:ln w="12700">
            <a:solidFill>
              <a:srgbClr val="2F68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type1</a:t>
            </a:r>
            <a:br/>
            <a:r>
              <a:rPr sz="1100" b="1">
                <a:solidFill>
                  <a:srgbClr val="FFFFFF"/>
                </a:solidFill>
                <a:latin typeface="Microsoft YaHei"/>
              </a:rPr>
              <a:t>SincNet+CE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96312" y="2331720"/>
            <a:ext cx="1417320" cy="749808"/>
          </a:xfrm>
          <a:prstGeom prst="roundRect">
            <a:avLst/>
          </a:prstGeom>
          <a:solidFill>
            <a:srgbClr val="3F97B5"/>
          </a:solidFill>
          <a:ln w="12700">
            <a:solidFill>
              <a:srgbClr val="3F9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type3/5</a:t>
            </a:r>
            <a:br/>
            <a:r>
              <a:rPr sz="1100" b="1">
                <a:solidFill>
                  <a:srgbClr val="FFFFFF"/>
                </a:solidFill>
                <a:latin typeface="Microsoft YaHei"/>
              </a:rPr>
              <a:t>增强+对比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11680" y="2706624"/>
            <a:ext cx="484632" cy="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98264" y="2331720"/>
            <a:ext cx="1417320" cy="749808"/>
          </a:xfrm>
          <a:prstGeom prst="roundRect">
            <a:avLst/>
          </a:prstGeom>
          <a:solidFill>
            <a:srgbClr val="448C66"/>
          </a:solidFill>
          <a:ln w="12700">
            <a:solidFill>
              <a:srgbClr val="448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type6/7</a:t>
            </a:r>
            <a:br/>
            <a:r>
              <a:rPr sz="1100" b="1">
                <a:solidFill>
                  <a:srgbClr val="FFFFFF"/>
                </a:solidFill>
                <a:latin typeface="Microsoft YaHei"/>
              </a:rPr>
              <a:t>稳定训练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13632" y="2706624"/>
            <a:ext cx="484632" cy="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00216" y="2331720"/>
            <a:ext cx="1417320" cy="749808"/>
          </a:xfrm>
          <a:prstGeom prst="roundRect">
            <a:avLst/>
          </a:prstGeom>
          <a:solidFill>
            <a:srgbClr val="D67E31"/>
          </a:solidFill>
          <a:ln w="12700">
            <a:solidFill>
              <a:srgbClr val="D67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type8/9</a:t>
            </a:r>
            <a:br/>
            <a:r>
              <a:rPr sz="1100" b="1">
                <a:solidFill>
                  <a:srgbClr val="FFFFFF"/>
                </a:solidFill>
                <a:latin typeface="Microsoft YaHei"/>
              </a:rPr>
              <a:t>DG+WiSig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15584" y="2706624"/>
            <a:ext cx="484632" cy="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02168" y="2331720"/>
            <a:ext cx="1417320" cy="749808"/>
          </a:xfrm>
          <a:prstGeom prst="roundRect">
            <a:avLst/>
          </a:prstGeom>
          <a:solidFill>
            <a:srgbClr val="BE4A42"/>
          </a:solidFill>
          <a:ln w="12700">
            <a:solidFill>
              <a:srgbClr val="BE4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type10-*</a:t>
            </a:r>
            <a:br/>
            <a:r>
              <a:rPr sz="1100" b="1">
                <a:solidFill>
                  <a:srgbClr val="FFFFFF"/>
                </a:solidFill>
                <a:latin typeface="Microsoft YaHei"/>
              </a:rPr>
              <a:t>双分支消融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17536" y="2706624"/>
            <a:ext cx="484632" cy="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04120" y="2331720"/>
            <a:ext cx="1417320" cy="749808"/>
          </a:xfrm>
          <a:prstGeom prst="roundRect">
            <a:avLst/>
          </a:prstGeom>
          <a:solidFill>
            <a:srgbClr val="192F59"/>
          </a:solidFill>
          <a:ln w="12700">
            <a:solidFill>
              <a:srgbClr val="192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type10-5</a:t>
            </a:r>
            <a:br/>
            <a:r>
              <a:rPr sz="1100" b="1">
                <a:solidFill>
                  <a:srgbClr val="FFFFFF"/>
                </a:solidFill>
                <a:latin typeface="Microsoft YaHei"/>
              </a:rPr>
              <a:t>最终版本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619488" y="2706624"/>
            <a:ext cx="484632" cy="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85800" y="4160520"/>
          <a:ext cx="1069848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问题重心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代表结论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早期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同分布设备分类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type3 best 98.65%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中期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DG 与真实域变化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WiSig best-last 差距增大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后期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身份/域/物理解耦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D02 best-joint 90.18%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92F59"/>
                </a:solidFill>
                <a:latin typeface="Microsoft YaHei"/>
              </a:rPr>
              <a:t>最终代码结构：模块职责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201400" cy="27432"/>
          </a:xfrm>
          <a:prstGeom prst="rect">
            <a:avLst/>
          </a:prstGeom>
          <a:solidFill>
            <a:srgbClr val="E1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5C6470"/>
                </a:solidFill>
                <a:latin typeface="Microsoft YaHei"/>
              </a:rPr>
              <a:t>最终推荐版本位于 type10-5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C6470"/>
                </a:solidFill>
                <a:latin typeface="Microsoft YaHei"/>
              </a:rPr>
              <a:t>04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32588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模块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核心文件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职责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数据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dataset_wisig.py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day/rx 划分，返回 x/y/domain/meta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增强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DataAugmentation.py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DAC/PA/receiver/channel 扰动模拟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model.py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SincConv, MixStyle, PA/DAC classifier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解耦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model_dual_cvsincnet.py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身份分支、域分支、梯度反转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训练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train.py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多 loss、safe backward、checkpoint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评估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train.py logs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overall/joint/unseen split + best/last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92F59"/>
                </a:solidFill>
                <a:latin typeface="Microsoft YaHei"/>
              </a:rPr>
              <a:t>模块 1：数据加载与域划分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201400" cy="27432"/>
          </a:xfrm>
          <a:prstGeom prst="rect">
            <a:avLst/>
          </a:prstGeom>
          <a:solidFill>
            <a:srgbClr val="E1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5C6470"/>
                </a:solidFill>
                <a:latin typeface="Microsoft YaHei"/>
              </a:rPr>
              <a:t>从 ORACLE 分类数据演进到 WiSig day/rx domain setting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C6470"/>
                </a:solidFill>
                <a:latin typeface="Microsoft YaHei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920240" cy="914400"/>
          </a:xfrm>
          <a:prstGeom prst="roundRect">
            <a:avLst/>
          </a:prstGeom>
          <a:solidFill>
            <a:srgbClr val="2F68B3"/>
          </a:solidFill>
          <a:ln w="12700">
            <a:solidFill>
              <a:srgbClr val="2F68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Raw I/Q</a:t>
            </a:r>
            <a:br/>
            <a:r>
              <a:rPr sz="1500" b="1">
                <a:solidFill>
                  <a:srgbClr val="FFFFFF"/>
                </a:solidFill>
                <a:latin typeface="Microsoft YaHei"/>
              </a:rPr>
              <a:t>ManySig.pkl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828800"/>
            <a:ext cx="2011680" cy="9144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2F68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1">
                <a:solidFill>
                  <a:srgbClr val="192F59"/>
                </a:solidFill>
                <a:latin typeface="Microsoft YaHei"/>
              </a:rPr>
              <a:t>RMS normalize</a:t>
            </a:r>
            <a:br/>
            <a:r>
              <a:rPr sz="1400" b="1">
                <a:solidFill>
                  <a:srgbClr val="192F59"/>
                </a:solidFill>
                <a:latin typeface="Microsoft YaHei"/>
              </a:rPr>
              <a:t>pad/crop=256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828800"/>
            <a:ext cx="1920240" cy="914400"/>
          </a:xfrm>
          <a:prstGeom prst="roundRect">
            <a:avLst/>
          </a:prstGeom>
          <a:solidFill>
            <a:srgbClr val="448C66"/>
          </a:solidFill>
          <a:ln w="12700">
            <a:solidFill>
              <a:srgbClr val="448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label y</a:t>
            </a:r>
            <a:br/>
            <a:r>
              <a:rPr sz="1400" b="1">
                <a:solidFill>
                  <a:srgbClr val="FFFFFF"/>
                </a:solidFill>
                <a:latin typeface="Microsoft YaHei"/>
              </a:rPr>
              <a:t>transmitter 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325880"/>
            <a:ext cx="2011680" cy="594360"/>
          </a:xfrm>
          <a:prstGeom prst="roundRect">
            <a:avLst/>
          </a:prstGeom>
          <a:solidFill>
            <a:srgbClr val="D67E31"/>
          </a:solidFill>
          <a:ln w="12700">
            <a:solidFill>
              <a:srgbClr val="D67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domain d</a:t>
            </a:r>
            <a:br/>
            <a:r>
              <a:rPr sz="1300" b="1">
                <a:solidFill>
                  <a:srgbClr val="FFFFFF"/>
                </a:solidFill>
                <a:latin typeface="Microsoft YaHei"/>
              </a:rPr>
              <a:t>day/rx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2240280"/>
            <a:ext cx="2011680" cy="594360"/>
          </a:xfrm>
          <a:prstGeom prst="roundRect">
            <a:avLst/>
          </a:prstGeom>
          <a:solidFill>
            <a:srgbClr val="BE4A42"/>
          </a:solidFill>
          <a:ln w="12700">
            <a:solidFill>
              <a:srgbClr val="BE4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meta</a:t>
            </a:r>
            <a:br/>
            <a:r>
              <a:rPr sz="1300" b="1">
                <a:solidFill>
                  <a:srgbClr val="FFFFFF"/>
                </a:solidFill>
                <a:latin typeface="Microsoft YaHei"/>
              </a:rPr>
              <a:t>day, rx, split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60" y="2286000"/>
            <a:ext cx="685800" cy="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49240" y="2286000"/>
            <a:ext cx="640080" cy="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909560" y="1623060"/>
            <a:ext cx="594360" cy="66294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909560" y="2286000"/>
            <a:ext cx="594360" cy="25146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069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32D"/>
                </a:solidFill>
                <a:latin typeface="Microsoft YaHei"/>
              </a:defRPr>
            </a:pPr>
            <a:r>
              <a:t>关键实现：WiSigCompactDataset.__getitem__ 返回 (x, y, d, meta)</a:t>
            </a:r>
          </a:p>
          <a:p>
            <a:pPr>
              <a:spcAft>
                <a:spcPts val="500"/>
              </a:spcAft>
              <a:defRPr sz="1500">
                <a:solidFill>
                  <a:srgbClr val="1E232D"/>
                </a:solidFill>
                <a:latin typeface="Microsoft YaHei"/>
              </a:defRPr>
            </a:pPr>
            <a:r>
              <a:t>功能：为主分类、域对抗、分域评估同时提供监督信号</a:t>
            </a:r>
          </a:p>
          <a:p>
            <a:pPr>
              <a:spcAft>
                <a:spcPts val="500"/>
              </a:spcAft>
              <a:defRPr sz="1500">
                <a:solidFill>
                  <a:srgbClr val="1E232D"/>
                </a:solidFill>
                <a:latin typeface="Microsoft YaHei"/>
              </a:defRPr>
            </a:pPr>
            <a:r>
              <a:t>原理：把身份标签和域标签分离，后续模块才能做解耦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92F59"/>
                </a:solidFill>
                <a:latin typeface="Microsoft YaHei"/>
              </a:rPr>
              <a:t>模块 2：物理增强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201400" cy="27432"/>
          </a:xfrm>
          <a:prstGeom prst="rect">
            <a:avLst/>
          </a:prstGeom>
          <a:solidFill>
            <a:srgbClr val="E1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5C6470"/>
                </a:solidFill>
                <a:latin typeface="Microsoft YaHei"/>
              </a:rPr>
              <a:t>用可解释扰动扩展训练分布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C6470"/>
                </a:solidFill>
                <a:latin typeface="Microsoft YaHei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148840"/>
            <a:ext cx="2468880" cy="822960"/>
          </a:xfrm>
          <a:prstGeom prst="roundRect">
            <a:avLst/>
          </a:prstGeom>
          <a:solidFill>
            <a:srgbClr val="192F59"/>
          </a:solidFill>
          <a:ln w="12700">
            <a:solidFill>
              <a:srgbClr val="192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RFFIAugmentor</a:t>
            </a:r>
            <a:br/>
            <a:r>
              <a:rPr sz="1600" b="1">
                <a:solidFill>
                  <a:srgbClr val="FFFFFF"/>
                </a:solidFill>
                <a:latin typeface="Microsoft YaHei"/>
              </a:rPr>
              <a:t>训练视图生成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2057400" cy="658368"/>
          </a:xfrm>
          <a:prstGeom prst="roundRect">
            <a:avLst/>
          </a:prstGeom>
          <a:solidFill>
            <a:srgbClr val="2F68B3"/>
          </a:solidFill>
          <a:ln w="12700">
            <a:solidFill>
              <a:srgbClr val="2F68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DAC</a:t>
            </a:r>
            <a:br/>
            <a:r>
              <a:rPr sz="1300" b="1">
                <a:solidFill>
                  <a:srgbClr val="FFFFFF"/>
                </a:solidFill>
                <a:latin typeface="Microsoft YaHei"/>
              </a:rPr>
              <a:t>量化/失配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1563624"/>
            <a:ext cx="1920240" cy="996696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85800" y="3154680"/>
            <a:ext cx="2057400" cy="658368"/>
          </a:xfrm>
          <a:prstGeom prst="roundRect">
            <a:avLst/>
          </a:prstGeom>
          <a:solidFill>
            <a:srgbClr val="448C66"/>
          </a:solidFill>
          <a:ln w="12700">
            <a:solidFill>
              <a:srgbClr val="448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PA</a:t>
            </a:r>
            <a:br/>
            <a:r>
              <a:rPr sz="1300" b="1">
                <a:solidFill>
                  <a:srgbClr val="FFFFFF"/>
                </a:solidFill>
                <a:latin typeface="Microsoft YaHei"/>
              </a:rPr>
              <a:t>非线性/饱和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743200" y="2560320"/>
            <a:ext cx="1920240" cy="923544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052560" y="1234440"/>
            <a:ext cx="2057400" cy="658368"/>
          </a:xfrm>
          <a:prstGeom prst="roundRect">
            <a:avLst/>
          </a:prstGeom>
          <a:solidFill>
            <a:srgbClr val="D67E31"/>
          </a:solidFill>
          <a:ln w="12700">
            <a:solidFill>
              <a:srgbClr val="D67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Receiver DG</a:t>
            </a:r>
            <a:br/>
            <a:r>
              <a:rPr sz="1300" b="1">
                <a:solidFill>
                  <a:srgbClr val="FFFFFF"/>
                </a:solidFill>
                <a:latin typeface="Microsoft YaHei"/>
              </a:rPr>
              <a:t>接收端扰动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7132320" y="1563624"/>
            <a:ext cx="1920240" cy="996696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052560" y="3154680"/>
            <a:ext cx="2057400" cy="658368"/>
          </a:xfrm>
          <a:prstGeom prst="roundRect">
            <a:avLst/>
          </a:prstGeom>
          <a:solidFill>
            <a:srgbClr val="BE4A42"/>
          </a:solidFill>
          <a:ln w="12700">
            <a:solidFill>
              <a:srgbClr val="BE4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Channel</a:t>
            </a:r>
            <a:br/>
            <a:r>
              <a:rPr sz="1300" b="1">
                <a:solidFill>
                  <a:srgbClr val="FFFFFF"/>
                </a:solidFill>
                <a:latin typeface="Microsoft YaHei"/>
              </a:rPr>
              <a:t>信道变化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32320" y="2560320"/>
            <a:ext cx="1920240" cy="923544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754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32D"/>
                </a:solidFill>
                <a:latin typeface="Microsoft YaHei"/>
              </a:defRPr>
            </a:pPr>
            <a:r>
              <a:t>作用：让模型提前见到非身份变化</a:t>
            </a:r>
          </a:p>
          <a:p>
            <a:pPr>
              <a:spcAft>
                <a:spcPts val="500"/>
              </a:spcAft>
              <a:defRPr sz="1500">
                <a:solidFill>
                  <a:srgbClr val="1E232D"/>
                </a:solidFill>
                <a:latin typeface="Microsoft YaHei"/>
              </a:defRPr>
            </a:pPr>
            <a:r>
              <a:t>注意：增强过强会导致梯度异常，B02 last 16.67% 且 skipped batches 极多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92F59"/>
                </a:solidFill>
                <a:latin typeface="Microsoft YaHei"/>
              </a:rPr>
              <a:t>模块 3：SincConv / CVSincNet 特征提取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201400" cy="27432"/>
          </a:xfrm>
          <a:prstGeom prst="rect">
            <a:avLst/>
          </a:prstGeom>
          <a:solidFill>
            <a:srgbClr val="E1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5C6470"/>
                </a:solidFill>
                <a:latin typeface="Microsoft YaHei"/>
              </a:rPr>
              <a:t>从频带滤波到可训练 RF 指纹特征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C6470"/>
                </a:solidFill>
                <a:latin typeface="Microsoft YaHei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1417320" cy="749808"/>
          </a:xfrm>
          <a:prstGeom prst="roundRect">
            <a:avLst/>
          </a:prstGeom>
          <a:solidFill>
            <a:srgbClr val="2F68B3"/>
          </a:solidFill>
          <a:ln w="12700">
            <a:solidFill>
              <a:srgbClr val="2F68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I/Q 序列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96312" y="2148840"/>
            <a:ext cx="1417320" cy="749808"/>
          </a:xfrm>
          <a:prstGeom prst="roundRect">
            <a:avLst/>
          </a:prstGeom>
          <a:solidFill>
            <a:srgbClr val="3F97B5"/>
          </a:solidFill>
          <a:ln w="12700">
            <a:solidFill>
              <a:srgbClr val="3F9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SincConv1d</a:t>
            </a:r>
            <a:br/>
            <a:r>
              <a:rPr sz="1100" b="1">
                <a:solidFill>
                  <a:srgbClr val="FFFFFF"/>
                </a:solidFill>
                <a:latin typeface="Microsoft YaHei"/>
              </a:rPr>
              <a:t>参数化滤波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11680" y="2523744"/>
            <a:ext cx="484632" cy="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98264" y="2148840"/>
            <a:ext cx="1417320" cy="749808"/>
          </a:xfrm>
          <a:prstGeom prst="roundRect">
            <a:avLst/>
          </a:prstGeom>
          <a:solidFill>
            <a:srgbClr val="448C66"/>
          </a:solidFill>
          <a:ln w="12700">
            <a:solidFill>
              <a:srgbClr val="448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CNN blocks</a:t>
            </a:r>
            <a:br/>
            <a:r>
              <a:rPr sz="1100" b="1">
                <a:solidFill>
                  <a:srgbClr val="FFFFFF"/>
                </a:solidFill>
                <a:latin typeface="Microsoft YaHei"/>
              </a:rPr>
              <a:t>局部模式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13632" y="2523744"/>
            <a:ext cx="484632" cy="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00216" y="2148840"/>
            <a:ext cx="1417320" cy="749808"/>
          </a:xfrm>
          <a:prstGeom prst="roundRect">
            <a:avLst/>
          </a:prstGeom>
          <a:solidFill>
            <a:srgbClr val="D67E31"/>
          </a:solidFill>
          <a:ln w="12700">
            <a:solidFill>
              <a:srgbClr val="D67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Feature vector</a:t>
            </a:r>
            <a:br/>
            <a:r>
              <a:rPr sz="1100" b="1">
                <a:solidFill>
                  <a:srgbClr val="FFFFFF"/>
                </a:solidFill>
                <a:latin typeface="Microsoft YaHei"/>
              </a:rPr>
              <a:t>身份表征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15584" y="2523744"/>
            <a:ext cx="484632" cy="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02168" y="2148840"/>
            <a:ext cx="1417320" cy="749808"/>
          </a:xfrm>
          <a:prstGeom prst="roundRect">
            <a:avLst/>
          </a:prstGeom>
          <a:solidFill>
            <a:srgbClr val="192F59"/>
          </a:solidFill>
          <a:ln w="12700">
            <a:solidFill>
              <a:srgbClr val="192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Classifier</a:t>
            </a:r>
            <a:br/>
            <a:r>
              <a:rPr sz="1100" b="1">
                <a:solidFill>
                  <a:srgbClr val="FFFFFF"/>
                </a:solidFill>
                <a:latin typeface="Microsoft YaHei"/>
              </a:rPr>
              <a:t>设备 ID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17536" y="2523744"/>
            <a:ext cx="484632" cy="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14400" y="4251960"/>
          <a:ext cx="102412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760"/>
                <a:gridCol w="3413760"/>
                <a:gridCol w="341376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实现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功能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原理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model.py:SincConv1d / CVSincNet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提取 RF 低层与中层特征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参数化带通滤波更符合信号处理先验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92F59"/>
                </a:solidFill>
                <a:latin typeface="Microsoft YaHei"/>
              </a:rPr>
              <a:t>模块 4：PhysicalAwareClassifier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201400" cy="27432"/>
          </a:xfrm>
          <a:prstGeom prst="rect">
            <a:avLst/>
          </a:prstGeom>
          <a:solidFill>
            <a:srgbClr val="E1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5C6470"/>
                </a:solidFill>
                <a:latin typeface="Microsoft YaHei"/>
              </a:rPr>
              <a:t>把身份、PA、DAC 相关因素显式组织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C6470"/>
                </a:solidFill>
                <a:latin typeface="Microsoft YaHei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1828800" cy="777240"/>
          </a:xfrm>
          <a:prstGeom prst="roundRect">
            <a:avLst/>
          </a:prstGeom>
          <a:solidFill>
            <a:srgbClr val="192F59"/>
          </a:solidFill>
          <a:ln w="12700">
            <a:solidFill>
              <a:srgbClr val="192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shared feature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188720"/>
            <a:ext cx="2011680" cy="594360"/>
          </a:xfrm>
          <a:prstGeom prst="roundRect">
            <a:avLst/>
          </a:prstGeom>
          <a:solidFill>
            <a:srgbClr val="2F68B3"/>
          </a:solidFill>
          <a:ln w="12700">
            <a:solidFill>
              <a:srgbClr val="2F68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feat_id</a:t>
            </a:r>
            <a:br/>
            <a:r>
              <a:rPr sz="1200" b="1">
                <a:solidFill>
                  <a:srgbClr val="FFFFFF"/>
                </a:solidFill>
                <a:latin typeface="Microsoft YaHei"/>
              </a:rPr>
              <a:t>主身份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057400"/>
            <a:ext cx="2011680" cy="594360"/>
          </a:xfrm>
          <a:prstGeom prst="roundRect">
            <a:avLst/>
          </a:prstGeom>
          <a:solidFill>
            <a:srgbClr val="448C66"/>
          </a:solidFill>
          <a:ln w="12700">
            <a:solidFill>
              <a:srgbClr val="448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feat_pa</a:t>
            </a:r>
            <a:br/>
            <a:r>
              <a:rPr sz="1200" b="1">
                <a:solidFill>
                  <a:srgbClr val="FFFFFF"/>
                </a:solidFill>
                <a:latin typeface="Microsoft YaHei"/>
              </a:rPr>
              <a:t>PA 因素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926080"/>
            <a:ext cx="2011680" cy="594360"/>
          </a:xfrm>
          <a:prstGeom prst="roundRect">
            <a:avLst/>
          </a:prstGeom>
          <a:solidFill>
            <a:srgbClr val="D67E31"/>
          </a:solidFill>
          <a:ln w="12700">
            <a:solidFill>
              <a:srgbClr val="D67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feat_dac</a:t>
            </a:r>
            <a:br/>
            <a:r>
              <a:rPr sz="1200" b="1">
                <a:solidFill>
                  <a:srgbClr val="FFFFFF"/>
                </a:solidFill>
                <a:latin typeface="Microsoft YaHei"/>
              </a:rPr>
              <a:t>DAC 因素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057400"/>
            <a:ext cx="2011680" cy="594360"/>
          </a:xfrm>
          <a:prstGeom prst="roundRect">
            <a:avLst/>
          </a:prstGeom>
          <a:solidFill>
            <a:srgbClr val="BE4A42"/>
          </a:solidFill>
          <a:ln w="12700">
            <a:solidFill>
              <a:srgbClr val="BE4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feat_joint</a:t>
            </a:r>
            <a:br/>
            <a:r>
              <a:rPr sz="1200" b="1">
                <a:solidFill>
                  <a:srgbClr val="FFFFFF"/>
                </a:solidFill>
                <a:latin typeface="Microsoft YaHei"/>
              </a:rPr>
              <a:t>融合判别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651760" y="1485900"/>
            <a:ext cx="1005840" cy="105156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651760" y="2354580"/>
            <a:ext cx="1005840" cy="18288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651760" y="2537460"/>
            <a:ext cx="1005840" cy="68580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669280" y="1485900"/>
            <a:ext cx="1097280" cy="86868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669280" y="2354580"/>
            <a:ext cx="1097280" cy="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669280" y="2354580"/>
            <a:ext cx="1097280" cy="86868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31520" y="4572000"/>
          <a:ext cx="1078992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消融证据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main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pa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dac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结论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32D"/>
                          </a:solidFill>
                          <a:latin typeface="Microsoft YaHei"/>
                        </a:rPr>
                        <a:t>g0 baseline_joint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32D"/>
                          </a:solidFill>
                          <a:latin typeface="Microsoft YaHei"/>
                        </a:rPr>
                        <a:t>79.92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32D"/>
                          </a:solidFill>
                          <a:latin typeface="Microsoft YaHei"/>
                        </a:rPr>
                        <a:t>11.13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32D"/>
                          </a:solidFill>
                          <a:latin typeface="Microsoft YaHei"/>
                        </a:rPr>
                        <a:t>17.24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32D"/>
                          </a:solidFill>
                          <a:latin typeface="Microsoft YaHei"/>
                        </a:rPr>
                        <a:t>无辅助时物理表征弱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32D"/>
                          </a:solidFill>
                          <a:latin typeface="Microsoft YaHei"/>
                        </a:rPr>
                        <a:t>g4 full balanced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32D"/>
                          </a:solidFill>
                          <a:latin typeface="Microsoft YaHei"/>
                        </a:rPr>
                        <a:t>84.69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32D"/>
                          </a:solidFill>
                          <a:latin typeface="Microsoft YaHei"/>
                        </a:rPr>
                        <a:t>87.74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32D"/>
                          </a:solidFill>
                          <a:latin typeface="Microsoft YaHei"/>
                        </a:rPr>
                        <a:t>86.19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32D"/>
                          </a:solidFill>
                          <a:latin typeface="Microsoft YaHei"/>
                        </a:rPr>
                        <a:t>平衡 PA/DAC 辅助有效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92F59"/>
                </a:solidFill>
                <a:latin typeface="Microsoft YaHei"/>
              </a:rPr>
              <a:t>模块 5：双分支解耦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201400" cy="27432"/>
          </a:xfrm>
          <a:prstGeom prst="rect">
            <a:avLst/>
          </a:prstGeom>
          <a:solidFill>
            <a:srgbClr val="E1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5C6470"/>
                </a:solidFill>
                <a:latin typeface="Microsoft YaHei"/>
              </a:rPr>
              <a:t>身份分支保留设备信息，域分支吸收 day/rx 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C6470"/>
                </a:solidFill>
                <a:latin typeface="Microsoft YaHei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1280160" cy="685800"/>
          </a:xfrm>
          <a:prstGeom prst="roundRect">
            <a:avLst/>
          </a:prstGeom>
          <a:solidFill>
            <a:srgbClr val="192F59"/>
          </a:solidFill>
          <a:ln w="12700">
            <a:solidFill>
              <a:srgbClr val="192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I/Q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74519" y="1508760"/>
            <a:ext cx="2011680" cy="777240"/>
          </a:xfrm>
          <a:prstGeom prst="roundRect">
            <a:avLst/>
          </a:prstGeom>
          <a:solidFill>
            <a:srgbClr val="2F68B3"/>
          </a:solidFill>
          <a:ln w="12700">
            <a:solidFill>
              <a:srgbClr val="2F68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id_backbone</a:t>
            </a:r>
            <a:br/>
            <a:r>
              <a:rPr sz="1400" b="1">
                <a:solidFill>
                  <a:srgbClr val="FFFFFF"/>
                </a:solidFill>
                <a:latin typeface="Microsoft YaHei"/>
              </a:rPr>
              <a:t>身份特征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19" y="3291840"/>
            <a:ext cx="2011680" cy="777240"/>
          </a:xfrm>
          <a:prstGeom prst="roundRect">
            <a:avLst/>
          </a:prstGeom>
          <a:solidFill>
            <a:srgbClr val="D67E31"/>
          </a:solidFill>
          <a:ln w="12700">
            <a:solidFill>
              <a:srgbClr val="D67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dom_backbone</a:t>
            </a:r>
            <a:br/>
            <a:r>
              <a:rPr sz="1400" b="1">
                <a:solidFill>
                  <a:srgbClr val="FFFFFF"/>
                </a:solidFill>
                <a:latin typeface="Microsoft YaHei"/>
              </a:rPr>
              <a:t>域特征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1874519" y="1897380"/>
            <a:ext cx="45721" cy="82296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874519" y="2720340"/>
            <a:ext cx="45721" cy="96012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54880" y="1280160"/>
            <a:ext cx="1828800" cy="548640"/>
          </a:xfrm>
          <a:prstGeom prst="roundRect">
            <a:avLst/>
          </a:prstGeom>
          <a:solidFill>
            <a:srgbClr val="448C66"/>
          </a:solidFill>
          <a:ln w="12700">
            <a:solidFill>
              <a:srgbClr val="448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ID head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886199" y="1554480"/>
            <a:ext cx="868681" cy="34290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754880" y="2057400"/>
            <a:ext cx="1828800" cy="548640"/>
          </a:xfrm>
          <a:prstGeom prst="roundRect">
            <a:avLst/>
          </a:prstGeom>
          <a:solidFill>
            <a:srgbClr val="BE4A42"/>
          </a:solidFill>
          <a:ln w="12700">
            <a:solidFill>
              <a:srgbClr val="BE4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GRL + domain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86199" y="1897380"/>
            <a:ext cx="868681" cy="43434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754880" y="3291840"/>
            <a:ext cx="1828800" cy="548640"/>
          </a:xfrm>
          <a:prstGeom prst="roundRect">
            <a:avLst/>
          </a:prstGeom>
          <a:solidFill>
            <a:srgbClr val="D67E31"/>
          </a:solidFill>
          <a:ln w="12700">
            <a:solidFill>
              <a:srgbClr val="D67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Domain head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886199" y="3566160"/>
            <a:ext cx="868681" cy="11430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754880" y="4069080"/>
            <a:ext cx="1828800" cy="548640"/>
          </a:xfrm>
          <a:prstGeom prst="roundRect">
            <a:avLst/>
          </a:prstGeom>
          <a:solidFill>
            <a:srgbClr val="5C6470"/>
          </a:solidFill>
          <a:ln w="12700">
            <a:solidFill>
              <a:srgbClr val="5C6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Probe heads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86199" y="3680460"/>
            <a:ext cx="868681" cy="66294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60920" y="1463040"/>
            <a:ext cx="3886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32D"/>
                </a:solidFill>
                <a:latin typeface="Microsoft YaHei"/>
              </a:defRPr>
            </a:pPr>
            <a:r>
              <a:t>原理：梯度反转让身份特征难以预测域</a:t>
            </a:r>
          </a:p>
          <a:p>
            <a:pPr>
              <a:spcAft>
                <a:spcPts val="500"/>
              </a:spcAft>
              <a:defRPr sz="1500">
                <a:solidFill>
                  <a:srgbClr val="1E232D"/>
                </a:solidFill>
                <a:latin typeface="Microsoft YaHei"/>
              </a:defRPr>
            </a:pPr>
            <a:r>
              <a:t>目标：降低 day/rx 信息泄漏到身份表征</a:t>
            </a:r>
          </a:p>
          <a:p>
            <a:pPr>
              <a:spcAft>
                <a:spcPts val="500"/>
              </a:spcAft>
              <a:defRPr sz="1500">
                <a:solidFill>
                  <a:srgbClr val="1E232D"/>
                </a:solidFill>
                <a:latin typeface="Microsoft YaHei"/>
              </a:defRPr>
            </a:pPr>
            <a:r>
              <a:t>风险：多目标竞争，训练稳定性敏感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92F59"/>
                </a:solidFill>
                <a:latin typeface="Microsoft YaHei"/>
              </a:rPr>
              <a:t>模块 6：损失函数系统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201400" cy="27432"/>
          </a:xfrm>
          <a:prstGeom prst="rect">
            <a:avLst/>
          </a:prstGeom>
          <a:solidFill>
            <a:srgbClr val="E1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5C6470"/>
                </a:solidFill>
                <a:latin typeface="Microsoft YaHei"/>
              </a:rPr>
              <a:t>从单一 CE 演进到身份、域、物理、多目标联合优化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C6470"/>
                </a:solidFill>
                <a:latin typeface="Microsoft YaHe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234440"/>
          <a:ext cx="109728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6620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Loss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功能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对应原理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CE / loss_id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设备身份分类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保持主任务判别性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loss_dom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域分类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让域分支捕获 day/rx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loss_adv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域对抗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身份特征去域化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loss_orth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正交约束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降低身份/域冗余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loss_cons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一致性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增强前后稳定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loss_pa / loss_dac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物理辅助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显式组织硬件扰动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92F59"/>
                </a:solidFill>
                <a:latin typeface="Microsoft YaHei"/>
              </a:rPr>
              <a:t>模块 7：训练流程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201400" cy="27432"/>
          </a:xfrm>
          <a:prstGeom prst="rect">
            <a:avLst/>
          </a:prstGeom>
          <a:solidFill>
            <a:srgbClr val="E1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5C6470"/>
                </a:solidFill>
                <a:latin typeface="Microsoft YaHei"/>
              </a:rPr>
              <a:t>每个 epoch 的主要计算路径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C6470"/>
                </a:solidFill>
                <a:latin typeface="Microsoft YaHe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40280"/>
            <a:ext cx="1417320" cy="749808"/>
          </a:xfrm>
          <a:prstGeom prst="roundRect">
            <a:avLst/>
          </a:prstGeom>
          <a:solidFill>
            <a:srgbClr val="2F68B3"/>
          </a:solidFill>
          <a:ln w="12700">
            <a:solidFill>
              <a:srgbClr val="2F68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batch</a:t>
            </a:r>
            <a:br/>
            <a:r>
              <a:rPr sz="1100" b="1">
                <a:solidFill>
                  <a:srgbClr val="FFFFFF"/>
                </a:solidFill>
                <a:latin typeface="Microsoft YaHei"/>
              </a:rPr>
              <a:t>x,y,d,meta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96312" y="2240280"/>
            <a:ext cx="1417320" cy="749808"/>
          </a:xfrm>
          <a:prstGeom prst="roundRect">
            <a:avLst/>
          </a:prstGeom>
          <a:solidFill>
            <a:srgbClr val="3F97B5"/>
          </a:solidFill>
          <a:ln w="12700">
            <a:solidFill>
              <a:srgbClr val="3F9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增强 / MixStyle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11680" y="2615184"/>
            <a:ext cx="484632" cy="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98264" y="2240280"/>
            <a:ext cx="1417320" cy="749808"/>
          </a:xfrm>
          <a:prstGeom prst="roundRect">
            <a:avLst/>
          </a:prstGeom>
          <a:solidFill>
            <a:srgbClr val="448C66"/>
          </a:solidFill>
          <a:ln w="12700">
            <a:solidFill>
              <a:srgbClr val="448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forward</a:t>
            </a:r>
            <a:br/>
            <a:r>
              <a:rPr sz="1100" b="1">
                <a:solidFill>
                  <a:srgbClr val="FFFFFF"/>
                </a:solidFill>
                <a:latin typeface="Microsoft YaHei"/>
              </a:rPr>
              <a:t>多头输出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13632" y="2615184"/>
            <a:ext cx="484632" cy="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00216" y="2240280"/>
            <a:ext cx="1417320" cy="749808"/>
          </a:xfrm>
          <a:prstGeom prst="roundRect">
            <a:avLst/>
          </a:prstGeom>
          <a:solidFill>
            <a:srgbClr val="D67E31"/>
          </a:solidFill>
          <a:ln w="12700">
            <a:solidFill>
              <a:srgbClr val="D67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多 loss</a:t>
            </a:r>
            <a:br/>
            <a:r>
              <a:rPr sz="1100" b="1">
                <a:solidFill>
                  <a:srgbClr val="FFFFFF"/>
                </a:solidFill>
                <a:latin typeface="Microsoft YaHei"/>
              </a:rPr>
              <a:t>加权求和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15584" y="2615184"/>
            <a:ext cx="484632" cy="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02168" y="2240280"/>
            <a:ext cx="1417320" cy="749808"/>
          </a:xfrm>
          <a:prstGeom prst="roundRect">
            <a:avLst/>
          </a:prstGeom>
          <a:solidFill>
            <a:srgbClr val="BE4A42"/>
          </a:solidFill>
          <a:ln w="12700">
            <a:solidFill>
              <a:srgbClr val="BE4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safe backward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17536" y="2615184"/>
            <a:ext cx="484632" cy="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04120" y="2240280"/>
            <a:ext cx="1417320" cy="749808"/>
          </a:xfrm>
          <a:prstGeom prst="roundRect">
            <a:avLst/>
          </a:prstGeom>
          <a:solidFill>
            <a:srgbClr val="192F59"/>
          </a:solidFill>
          <a:ln w="12700">
            <a:solidFill>
              <a:srgbClr val="192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eval + ckpt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619488" y="2615184"/>
            <a:ext cx="484632" cy="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4297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32D"/>
                </a:solidFill>
                <a:latin typeface="Microsoft YaHei"/>
              </a:defRPr>
            </a:pPr>
            <a:r>
              <a:t>实现入口：type10-5/train.py</a:t>
            </a:r>
          </a:p>
          <a:p>
            <a:pPr>
              <a:spcAft>
                <a:spcPts val="500"/>
              </a:spcAft>
              <a:defRPr sz="1500">
                <a:solidFill>
                  <a:srgbClr val="1E232D"/>
                </a:solidFill>
                <a:latin typeface="Microsoft YaHei"/>
              </a:defRPr>
            </a:pPr>
            <a:r>
              <a:t>关键工程：AdamW + Cosine schedule + checkpoint + safe_backward_step</a:t>
            </a:r>
          </a:p>
          <a:p>
            <a:pPr>
              <a:spcAft>
                <a:spcPts val="500"/>
              </a:spcAft>
              <a:defRPr sz="1500">
                <a:solidFill>
                  <a:srgbClr val="1E232D"/>
                </a:solidFill>
                <a:latin typeface="Microsoft YaHei"/>
              </a:defRPr>
            </a:pPr>
            <a:r>
              <a:t>训练目标：准确率、泛化性、稳定性三者平衡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92F59"/>
                </a:solidFill>
                <a:latin typeface="Microsoft YaHei"/>
              </a:rPr>
              <a:t>模块 8：评价体系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201400" cy="27432"/>
          </a:xfrm>
          <a:prstGeom prst="rect">
            <a:avLst/>
          </a:prstGeom>
          <a:solidFill>
            <a:srgbClr val="E1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5C6470"/>
                </a:solidFill>
                <a:latin typeface="Microsoft YaHei"/>
              </a:rPr>
              <a:t>必须同时看 overall、joint、hardest split、best 与 last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C6470"/>
                </a:solidFill>
                <a:latin typeface="Microsoft YaHei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3444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使用场景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Last epoch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最后一轮目标域准确率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判断最终训练稳定性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Best joint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训练中最佳 joint 指标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判断方法潜力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Best test overall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整体测试最佳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横向比较主指标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Unseen day+rx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最困难组合域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验证极端泛化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709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32D"/>
                </a:solidFill>
                <a:latin typeface="Microsoft YaHei"/>
              </a:defRPr>
            </a:pPr>
            <a:r>
              <a:t>经验：type11、B02 证明 best 高不代表最终可靠</a:t>
            </a:r>
          </a:p>
          <a:p>
            <a:pPr>
              <a:spcAft>
                <a:spcPts val="500"/>
              </a:spcAft>
              <a:defRPr sz="1500">
                <a:solidFill>
                  <a:srgbClr val="1E232D"/>
                </a:solidFill>
                <a:latin typeface="Microsoft YaHei"/>
              </a:defRPr>
            </a:pPr>
            <a:r>
              <a:t>最终推荐 D02：best-joint 90.18，last 89.67，二者接近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92F59"/>
                </a:solidFill>
                <a:latin typeface="Microsoft YaHei"/>
              </a:rPr>
              <a:t>早期 ORACLE 阶段结果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201400" cy="27432"/>
          </a:xfrm>
          <a:prstGeom prst="rect">
            <a:avLst/>
          </a:prstGeom>
          <a:solidFill>
            <a:srgbClr val="E1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5C6470"/>
                </a:solidFill>
                <a:latin typeface="Microsoft YaHei"/>
              </a:rPr>
              <a:t>增强 + 对比/原型损失对同分布分类有效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C6470"/>
                </a:solidFill>
                <a:latin typeface="Microsoft YaHei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80160"/>
          <a:ext cx="107899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版本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核心模块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Last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Best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结论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type3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Aug + SupCon + Proto + DAC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98.23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98.65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早期最强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type5 full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评估/解释增强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97.53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97.97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更利于分析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type5 slim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精简模型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97.48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97.56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轻量化损失小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251960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E232D"/>
                </a:solidFill>
                <a:latin typeface="Microsoft YaHei"/>
              </a:defRPr>
            </a:pPr>
            <a:r>
              <a:t>结论：类内聚合与原型约束有效</a:t>
            </a:r>
          </a:p>
          <a:p>
            <a:pPr>
              <a:spcAft>
                <a:spcPts val="500"/>
              </a:spcAft>
              <a:defRPr sz="1600">
                <a:solidFill>
                  <a:srgbClr val="1E232D"/>
                </a:solidFill>
                <a:latin typeface="Microsoft YaHei"/>
              </a:defRPr>
            </a:pPr>
            <a:r>
              <a:t>局限：尚未充分覆盖真实 day/rx 跨域问题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92F59"/>
                </a:solidFill>
                <a:latin typeface="Microsoft YaHei"/>
              </a:rPr>
              <a:t>WiSig 迁移：任务难度上升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201400" cy="27432"/>
          </a:xfrm>
          <a:prstGeom prst="rect">
            <a:avLst/>
          </a:prstGeom>
          <a:solidFill>
            <a:srgbClr val="E1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5C6470"/>
                </a:solidFill>
                <a:latin typeface="Microsoft YaHei"/>
              </a:rPr>
              <a:t>从分类准确率转向跨 day/rx 泛化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C6470"/>
                </a:solidFill>
                <a:latin typeface="Microsoft YaHei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88720"/>
          <a:ext cx="10972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新增模块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Last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Best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主要现象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type8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DG 训练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97.38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97.57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泛化方向明确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type9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WiSig + PA/channel/DA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92.98-93.75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95.66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best-last 差距扩大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type10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dual CVSincNet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92.17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96.12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早期好，后期退化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7091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E232D"/>
                </a:solidFill>
                <a:latin typeface="Microsoft YaHei"/>
              </a:defRPr>
            </a:pPr>
            <a:r>
              <a:t>启示：真实域变化下，模型潜力与训练稳定性需要分开讨论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92F59"/>
                </a:solidFill>
                <a:latin typeface="Microsoft YaHei"/>
              </a:rPr>
              <a:t>最终版本消融：D02 最可靠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201400" cy="27432"/>
          </a:xfrm>
          <a:prstGeom prst="rect">
            <a:avLst/>
          </a:prstGeom>
          <a:solidFill>
            <a:srgbClr val="E1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5C6470"/>
                </a:solidFill>
                <a:latin typeface="Microsoft YaHei"/>
              </a:rPr>
              <a:t>type10-5 内部结果对比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C6470"/>
                </a:solidFill>
                <a:latin typeface="Microsoft YaHei"/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900"/>
                <a:gridCol w="1866900"/>
                <a:gridCol w="1866900"/>
                <a:gridCol w="1866900"/>
                <a:gridCol w="1866900"/>
                <a:gridCol w="1866900"/>
              </a:tblGrid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实验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模块设置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Last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Best joint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Best overall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结论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232D"/>
                          </a:solidFill>
                          <a:latin typeface="Microsoft YaHei"/>
                        </a:rPr>
                        <a:t>A00_s1_core_base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232D"/>
                          </a:solidFill>
                          <a:latin typeface="Microsoft YaHei"/>
                        </a:rPr>
                        <a:t>core baseline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232D"/>
                          </a:solidFill>
                          <a:latin typeface="Microsoft YaHei"/>
                        </a:rPr>
                        <a:t>86.51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232D"/>
                          </a:solidFill>
                          <a:latin typeface="Microsoft YaHei"/>
                        </a:rPr>
                        <a:t>86.25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232D"/>
                          </a:solidFill>
                          <a:latin typeface="Microsoft YaHei"/>
                        </a:rPr>
                        <a:t>89.51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232D"/>
                          </a:solidFill>
                          <a:latin typeface="Microsoft YaHei"/>
                        </a:rPr>
                        <a:t>稳定基线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232D"/>
                          </a:solidFill>
                          <a:latin typeface="Microsoft YaHei"/>
                        </a:rPr>
                        <a:t>D02_litec_mixstyle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232D"/>
                          </a:solidFill>
                          <a:latin typeface="Microsoft YaHei"/>
                        </a:rPr>
                        <a:t>lite_c + MixStyle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232D"/>
                          </a:solidFill>
                          <a:latin typeface="Microsoft YaHei"/>
                        </a:rPr>
                        <a:t>89.67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232D"/>
                          </a:solidFill>
                          <a:latin typeface="Microsoft YaHei"/>
                        </a:rPr>
                        <a:t>90.18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232D"/>
                          </a:solidFill>
                          <a:latin typeface="Microsoft YaHei"/>
                        </a:rPr>
                        <a:t>90.53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232D"/>
                          </a:solidFill>
                          <a:latin typeface="Microsoft YaHei"/>
                        </a:rPr>
                        <a:t>最终推荐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232D"/>
                          </a:solidFill>
                          <a:latin typeface="Microsoft YaHei"/>
                        </a:rPr>
                        <a:t>B02_random_mixstyle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232D"/>
                          </a:solidFill>
                          <a:latin typeface="Microsoft YaHei"/>
                        </a:rPr>
                        <a:t>随机 MixStyle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232D"/>
                          </a:solidFill>
                          <a:latin typeface="Microsoft YaHei"/>
                        </a:rPr>
                        <a:t>16.67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232D"/>
                          </a:solidFill>
                          <a:latin typeface="Microsoft YaHei"/>
                        </a:rPr>
                        <a:t>88.22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232D"/>
                          </a:solidFill>
                          <a:latin typeface="Microsoft YaHei"/>
                        </a:rPr>
                        <a:t>89.94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232D"/>
                          </a:solidFill>
                          <a:latin typeface="Microsoft YaHei"/>
                        </a:rPr>
                        <a:t>训练崩溃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232D"/>
                          </a:solidFill>
                          <a:latin typeface="Microsoft YaHei"/>
                        </a:rPr>
                        <a:t>D01_no_pa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232D"/>
                          </a:solidFill>
                          <a:latin typeface="Microsoft YaHei"/>
                        </a:rPr>
                        <a:t>MixStyle 去 PA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232D"/>
                          </a:solidFill>
                          <a:latin typeface="Microsoft YaHei"/>
                        </a:rPr>
                        <a:t>83.39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232D"/>
                          </a:solidFill>
                          <a:latin typeface="Microsoft YaHei"/>
                        </a:rPr>
                        <a:t>86.40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232D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232D"/>
                          </a:solidFill>
                          <a:latin typeface="Microsoft YaHei"/>
                        </a:rPr>
                        <a:t>稳定性下降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074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32D"/>
                </a:solidFill>
                <a:latin typeface="Microsoft YaHei"/>
              </a:defRPr>
            </a:pPr>
            <a:r>
              <a:t>D02 相对 A00：Last +3.16，Best joint +3.93，Best overall +1.02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92F59"/>
                </a:solidFill>
                <a:latin typeface="Microsoft YaHei"/>
              </a:rPr>
              <a:t>失败实验不是噪声：它们解释边界条件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201400" cy="27432"/>
          </a:xfrm>
          <a:prstGeom prst="rect">
            <a:avLst/>
          </a:prstGeom>
          <a:solidFill>
            <a:srgbClr val="E1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5C6470"/>
                </a:solidFill>
                <a:latin typeface="Microsoft YaHei"/>
              </a:rPr>
              <a:t>哪些模块组合会破坏稳定性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C6470"/>
                </a:solidFill>
                <a:latin typeface="Microsoft YaHei"/>
              </a:rP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430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实验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现象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可能原因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结论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32D"/>
                          </a:solidFill>
                          <a:latin typeface="Microsoft YaHei"/>
                        </a:rPr>
                        <a:t>B02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32D"/>
                          </a:solidFill>
                          <a:latin typeface="Microsoft YaHei"/>
                        </a:rPr>
                        <a:t>last 16.67，skipped batches 极多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32D"/>
                          </a:solidFill>
                          <a:latin typeface="Microsoft YaHei"/>
                        </a:rPr>
                        <a:t>随机混合过强，梯度异常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32D"/>
                          </a:solidFill>
                          <a:latin typeface="Microsoft YaHei"/>
                        </a:rPr>
                        <a:t>MixStyle 需受控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32D"/>
                          </a:solidFill>
                          <a:latin typeface="Microsoft YaHei"/>
                        </a:rPr>
                        <a:t>B01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32D"/>
                          </a:solidFill>
                          <a:latin typeface="Microsoft YaHei"/>
                        </a:rPr>
                        <a:t>last 48.07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32D"/>
                          </a:solidFill>
                          <a:latin typeface="Microsoft YaHei"/>
                        </a:rPr>
                        <a:t>多层组合混合过强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32D"/>
                          </a:solidFill>
                          <a:latin typeface="Microsoft YaHei"/>
                        </a:rPr>
                        <a:t>层位置敏感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32D"/>
                          </a:solidFill>
                          <a:latin typeface="Microsoft YaHei"/>
                        </a:rPr>
                        <a:t>D01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32D"/>
                          </a:solidFill>
                          <a:latin typeface="Microsoft YaHei"/>
                        </a:rPr>
                        <a:t>last 83.39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32D"/>
                          </a:solidFill>
                          <a:latin typeface="Microsoft YaHei"/>
                        </a:rPr>
                        <a:t>缺少 PA 辅助出口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32D"/>
                          </a:solidFill>
                          <a:latin typeface="Microsoft YaHei"/>
                        </a:rPr>
                        <a:t>PA 有稳定作用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32D"/>
                          </a:solidFill>
                          <a:latin typeface="Microsoft YaHei"/>
                        </a:rPr>
                        <a:t>type11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32D"/>
                          </a:solidFill>
                          <a:latin typeface="Microsoft YaHei"/>
                        </a:rPr>
                        <a:t>best 91.59 后崩到约 31.10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32D"/>
                          </a:solidFill>
                          <a:latin typeface="Microsoft YaHei"/>
                        </a:rPr>
                        <a:t>对抗/解耦权重冲突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232D"/>
                          </a:solidFill>
                          <a:latin typeface="Microsoft YaHei"/>
                        </a:rPr>
                        <a:t>不能只看 best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92F59"/>
                </a:solidFill>
                <a:latin typeface="Microsoft YaHei"/>
              </a:rPr>
              <a:t>模块贡献链条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201400" cy="27432"/>
          </a:xfrm>
          <a:prstGeom prst="rect">
            <a:avLst/>
          </a:prstGeom>
          <a:solidFill>
            <a:srgbClr val="E1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5C6470"/>
                </a:solidFill>
                <a:latin typeface="Microsoft YaHei"/>
              </a:rPr>
              <a:t>最终提升来自模块协同，而非单一组件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C6470"/>
                </a:solidFill>
                <a:latin typeface="Microsoft YaHei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1417320" cy="749808"/>
          </a:xfrm>
          <a:prstGeom prst="roundRect">
            <a:avLst/>
          </a:prstGeom>
          <a:solidFill>
            <a:srgbClr val="2F68B3"/>
          </a:solidFill>
          <a:ln w="12700">
            <a:solidFill>
              <a:srgbClr val="2F68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数据域标签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96312" y="2011680"/>
            <a:ext cx="1417320" cy="749808"/>
          </a:xfrm>
          <a:prstGeom prst="roundRect">
            <a:avLst/>
          </a:prstGeom>
          <a:solidFill>
            <a:srgbClr val="3F97B5"/>
          </a:solidFill>
          <a:ln w="12700">
            <a:solidFill>
              <a:srgbClr val="3F9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物理增强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11680" y="2386584"/>
            <a:ext cx="484632" cy="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98264" y="2011680"/>
            <a:ext cx="1417320" cy="749808"/>
          </a:xfrm>
          <a:prstGeom prst="roundRect">
            <a:avLst/>
          </a:prstGeom>
          <a:solidFill>
            <a:srgbClr val="448C66"/>
          </a:solidFill>
          <a:ln w="12700">
            <a:solidFill>
              <a:srgbClr val="448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MixStyle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13632" y="2386584"/>
            <a:ext cx="484632" cy="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00216" y="2011680"/>
            <a:ext cx="1417320" cy="749808"/>
          </a:xfrm>
          <a:prstGeom prst="roundRect">
            <a:avLst/>
          </a:prstGeom>
          <a:solidFill>
            <a:srgbClr val="D67E31"/>
          </a:solidFill>
          <a:ln w="12700">
            <a:solidFill>
              <a:srgbClr val="D67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双分支解耦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15584" y="2386584"/>
            <a:ext cx="484632" cy="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02168" y="2011680"/>
            <a:ext cx="1417320" cy="749808"/>
          </a:xfrm>
          <a:prstGeom prst="roundRect">
            <a:avLst/>
          </a:prstGeom>
          <a:solidFill>
            <a:srgbClr val="BE4A42"/>
          </a:solidFill>
          <a:ln w="12700">
            <a:solidFill>
              <a:srgbClr val="BE4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多 loss 平衡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17536" y="2386584"/>
            <a:ext cx="484632" cy="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04120" y="2011680"/>
            <a:ext cx="1417320" cy="749808"/>
          </a:xfrm>
          <a:prstGeom prst="roundRect">
            <a:avLst/>
          </a:prstGeom>
          <a:solidFill>
            <a:srgbClr val="192F59"/>
          </a:solidFill>
          <a:ln w="12700">
            <a:solidFill>
              <a:srgbClr val="192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分域评价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619488" y="2386584"/>
            <a:ext cx="484632" cy="0"/>
          </a:xfrm>
          <a:prstGeom prst="line">
            <a:avLst/>
          </a:prstGeom>
          <a:ln w="19050">
            <a:solidFill>
              <a:srgbClr val="5C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3977639"/>
            <a:ext cx="10698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32D"/>
                </a:solidFill>
                <a:latin typeface="Microsoft YaHei"/>
              </a:defRPr>
            </a:pPr>
            <a:r>
              <a:t>数据模块定义问题；增强模块制造变化；模型模块分离因素</a:t>
            </a:r>
          </a:p>
          <a:p>
            <a:pPr>
              <a:spcAft>
                <a:spcPts val="500"/>
              </a:spcAft>
              <a:defRPr sz="1500">
                <a:solidFill>
                  <a:srgbClr val="1E232D"/>
                </a:solidFill>
                <a:latin typeface="Microsoft YaHei"/>
              </a:defRPr>
            </a:pPr>
            <a:r>
              <a:t>loss 模块控制优化方向；评价模块验证泛化来源</a:t>
            </a:r>
          </a:p>
          <a:p>
            <a:pPr>
              <a:spcAft>
                <a:spcPts val="500"/>
              </a:spcAft>
              <a:defRPr sz="1500">
                <a:solidFill>
                  <a:srgbClr val="1E232D"/>
                </a:solidFill>
                <a:latin typeface="Microsoft YaHei"/>
              </a:defRPr>
            </a:pPr>
            <a:r>
              <a:t>最终结论：D02 在整体泛化与训练稳定性之间达到当前最好平衡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92F59"/>
                </a:solidFill>
                <a:latin typeface="Microsoft YaHei"/>
              </a:rPr>
              <a:t>复现流程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201400" cy="27432"/>
          </a:xfrm>
          <a:prstGeom prst="rect">
            <a:avLst/>
          </a:prstGeom>
          <a:solidFill>
            <a:srgbClr val="E1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5C6470"/>
                </a:solidFill>
                <a:latin typeface="Microsoft YaHei"/>
              </a:rPr>
              <a:t>建议以 type10-5 / D02 配置为主线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C6470"/>
                </a:solidFill>
                <a:latin typeface="Microsoft YaHe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1E232D"/>
                </a:solidFill>
                <a:latin typeface="Microsoft YaHei"/>
              </a:rPr>
              <a:t>cd D:\codefile\CV-SincNet\type10-5</a:t>
            </a:r>
            <a:br/>
            <a:r>
              <a:rPr sz="1300" b="0">
                <a:solidFill>
                  <a:srgbClr val="1E232D"/>
                </a:solidFill>
                <a:latin typeface="Microsoft YaHei"/>
              </a:rPr>
              <a:t>python train.py --dataset wisig --wisig_domain rx_day --epochs 100 --batch_size 128 --lr 2e-4 --model_variant lite_c --mixstyle_p 0.3 --mixstyle_alpha 0.1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3154680"/>
          <a:ext cx="106984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必须记录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原因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seed + day/rx split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保证可复现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MixStyle 参数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决定稳定性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PA/DAC loss 权重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决定辅助任务强度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last + best + hardest split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避免只报告乐观结果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92F59"/>
                </a:solidFill>
                <a:latin typeface="Microsoft YaHei"/>
              </a:rPr>
              <a:t>局限与后续工作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201400" cy="27432"/>
          </a:xfrm>
          <a:prstGeom prst="rect">
            <a:avLst/>
          </a:prstGeom>
          <a:solidFill>
            <a:srgbClr val="E1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5C6470"/>
                </a:solidFill>
                <a:latin typeface="Microsoft YaHei"/>
              </a:rPr>
              <a:t>当前结果可支撑组会，但论文级结论仍需补充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C6470"/>
                </a:solidFill>
                <a:latin typeface="Microsoft YaHei"/>
              </a:rPr>
              <a:t>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34440"/>
          <a:ext cx="107899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局限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后续工作</a:t>
                      </a:r>
                    </a:p>
                  </a:txBody>
                  <a:tcPr marL="36576" marR="36576" marT="27432" marB="27432">
                    <a:solidFill>
                      <a:srgbClr val="192F59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单次日志为主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补充多 seed 均值/方差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hardest split 未全面提升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针对 unseen day+rx 设计约束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MixStyle 配置敏感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做层位置/概率系统搜索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对抗训练不稳定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引入更平滑的权重调度或梯度冲突处理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数据来源统计待补充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32D"/>
                          </a:solidFill>
                          <a:latin typeface="Microsoft YaHei"/>
                        </a:rPr>
                        <a:t>明确样本量、设备数、day/rx 分布</a:t>
                      </a:r>
                    </a:p>
                  </a:txBody>
                  <a:tcPr marL="36576" marR="36576" marT="27432" marB="27432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92F59"/>
                </a:solidFill>
                <a:latin typeface="Microsoft YaHei"/>
              </a:rPr>
              <a:t>结论与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201400" cy="27432"/>
          </a:xfrm>
          <a:prstGeom prst="rect">
            <a:avLst/>
          </a:prstGeom>
          <a:solidFill>
            <a:srgbClr val="E1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5C6470"/>
                </a:solidFill>
                <a:latin typeface="Microsoft YaHei"/>
              </a:rPr>
              <a:t>一句话总结：CVS 从分类模型演进为跨域 RF 指纹解耦框架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C6470"/>
                </a:solidFill>
                <a:latin typeface="Microsoft YaHei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325880"/>
            <a:ext cx="3017520" cy="914400"/>
          </a:xfrm>
          <a:prstGeom prst="roundRect">
            <a:avLst/>
          </a:prstGeom>
          <a:solidFill>
            <a:srgbClr val="2F68B3"/>
          </a:solidFill>
          <a:ln w="12700">
            <a:solidFill>
              <a:srgbClr val="2F68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最终版本</a:t>
            </a:r>
            <a:br/>
            <a:r>
              <a:rPr sz="1700" b="1">
                <a:solidFill>
                  <a:srgbClr val="FFFFFF"/>
                </a:solidFill>
                <a:latin typeface="Microsoft YaHei"/>
              </a:rPr>
              <a:t>type10-5 D02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325880"/>
            <a:ext cx="3017520" cy="914400"/>
          </a:xfrm>
          <a:prstGeom prst="roundRect">
            <a:avLst/>
          </a:prstGeom>
          <a:solidFill>
            <a:srgbClr val="448C66"/>
          </a:solidFill>
          <a:ln w="12700">
            <a:solidFill>
              <a:srgbClr val="448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核心结果</a:t>
            </a:r>
            <a:br/>
            <a:r>
              <a:rPr sz="1700" b="1">
                <a:solidFill>
                  <a:srgbClr val="FFFFFF"/>
                </a:solidFill>
                <a:latin typeface="Microsoft YaHei"/>
              </a:rPr>
              <a:t>Best joint 90.18%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325880"/>
            <a:ext cx="3017520" cy="914400"/>
          </a:xfrm>
          <a:prstGeom prst="roundRect">
            <a:avLst/>
          </a:prstGeom>
          <a:solidFill>
            <a:srgbClr val="D67E31"/>
          </a:solidFill>
          <a:ln w="12700">
            <a:solidFill>
              <a:srgbClr val="D67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稳定性</a:t>
            </a:r>
            <a:br/>
            <a:r>
              <a:rPr sz="1700" b="1">
                <a:solidFill>
                  <a:srgbClr val="FFFFFF"/>
                </a:solidFill>
                <a:latin typeface="Microsoft YaHei"/>
              </a:rPr>
              <a:t>Last 89.67%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94760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E232D"/>
                </a:solidFill>
                <a:latin typeface="Microsoft YaHei"/>
              </a:defRPr>
            </a:pPr>
            <a:r>
              <a:t>模块主线：数据域标签 -&gt; 物理增强 -&gt; 特征解耦 -&gt; 多目标训练 -&gt; 分域评价</a:t>
            </a:r>
          </a:p>
          <a:p>
            <a:pPr>
              <a:spcAft>
                <a:spcPts val="500"/>
              </a:spcAft>
              <a:defRPr sz="1800">
                <a:solidFill>
                  <a:srgbClr val="1E232D"/>
                </a:solidFill>
                <a:latin typeface="Microsoft YaHei"/>
              </a:defRPr>
            </a:pPr>
            <a:r>
              <a:t>汇报重点：不仅说明结果提升，也解释哪些模块有效、哪些组合会失败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